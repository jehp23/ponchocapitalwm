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BF8F2"/>
          </a:solidFill>
          <a:ln w="12700">
            <a:solidFill>
              <a:srgbClr val="FBF8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10912" y="0"/>
            <a:ext cx="36576" cy="5143500"/>
          </a:xfrm>
          <a:prstGeom prst="rect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pic>
        <p:nvPicPr>
          <p:cNvPr id="5" name="Image 0" descr="/sessions/elegant-admiring-pasteur/mnt/PonchoCapitalWM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66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25880" y="786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Privado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Patrimonio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2852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de visualización premium para clientes wealth.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dar claridad, confianza y presencia de marca.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749040"/>
            <a:ext cx="1325880" cy="822960"/>
          </a:xfrm>
          <a:prstGeom prst="rect">
            <a:avLst/>
          </a:prstGeom>
          <a:solidFill>
            <a:srgbClr val="1F4D3A"/>
          </a:solidFill>
          <a:ln w="6350">
            <a:solidFill>
              <a:srgbClr val="2A6B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8039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F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76072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965960" y="3749040"/>
            <a:ext cx="1325880" cy="822960"/>
          </a:xfrm>
          <a:prstGeom prst="rect">
            <a:avLst/>
          </a:prstGeom>
          <a:solidFill>
            <a:srgbClr val="1F4D3A"/>
          </a:solidFill>
          <a:ln w="6350">
            <a:solidFill>
              <a:srgbClr val="2A6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57400" y="38039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F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039112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29000" y="3749040"/>
            <a:ext cx="1325880" cy="822960"/>
          </a:xfrm>
          <a:prstGeom prst="rect">
            <a:avLst/>
          </a:prstGeom>
          <a:solidFill>
            <a:srgbClr val="1F4D3A"/>
          </a:solidFill>
          <a:ln w="6350">
            <a:solidFill>
              <a:srgbClr val="2A6B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0440" y="38039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F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502152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349240" y="594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este portal?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49240" y="1005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 Wealth Portal es una interfaz privada y premium que permite a los clientes de altos patrimonios ver en tiempo real el estado de su inversión.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49240" y="1920240"/>
            <a:ext cx="3566160" cy="329184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68112" y="19568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87568" y="1956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patrimonio consolidado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49240" y="2322576"/>
            <a:ext cx="3566160" cy="329184"/>
          </a:xfrm>
          <a:prstGeom prst="rect">
            <a:avLst/>
          </a:prstGeom>
          <a:solidFill>
            <a:srgbClr val="F0F5F2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68112" y="23591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87568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posiciones detalladas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349240" y="2724912"/>
            <a:ext cx="3566160" cy="329184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68112" y="27614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87568" y="2761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histórica y proyecciones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349240" y="3127248"/>
            <a:ext cx="3566160" cy="329184"/>
          </a:xfrm>
          <a:prstGeom prst="rect">
            <a:avLst/>
          </a:prstGeom>
          <a:solidFill>
            <a:srgbClr val="F0F5F2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68112" y="31638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87568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y notas del asesor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349240" y="3529584"/>
            <a:ext cx="3566160" cy="329184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68112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687568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 para gestión interna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349240" y="3931920"/>
            <a:ext cx="3566160" cy="329184"/>
          </a:xfrm>
          <a:prstGeom prst="rect">
            <a:avLst/>
          </a:prstGeom>
          <a:solidFill>
            <a:srgbClr val="F0F5F2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68112" y="39684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687568" y="39684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desde Excel de Allaria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349240" y="4407408"/>
            <a:ext cx="1133856" cy="274320"/>
          </a:xfrm>
          <a:prstGeom prst="rect">
            <a:avLst/>
          </a:prstGeom>
          <a:solidFill>
            <a:srgbClr val="173126"/>
          </a:solidFill>
          <a:ln w="3810">
            <a:solidFill>
              <a:srgbClr val="1F4D3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49240" y="4407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556248" y="4407408"/>
            <a:ext cx="1133856" cy="274320"/>
          </a:xfrm>
          <a:prstGeom prst="rect">
            <a:avLst/>
          </a:prstGeom>
          <a:solidFill>
            <a:srgbClr val="173126"/>
          </a:solidFill>
          <a:ln w="3810">
            <a:solidFill>
              <a:srgbClr val="1F4D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56248" y="4407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763256" y="4407408"/>
            <a:ext cx="1133856" cy="274320"/>
          </a:xfrm>
          <a:prstGeom prst="rect">
            <a:avLst/>
          </a:prstGeom>
          <a:solidFill>
            <a:srgbClr val="173126"/>
          </a:solidFill>
          <a:ln w="3810">
            <a:solidFill>
              <a:srgbClr val="1F4D3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63256" y="4407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349240" y="4754880"/>
            <a:ext cx="1133856" cy="274320"/>
          </a:xfrm>
          <a:prstGeom prst="rect">
            <a:avLst/>
          </a:prstGeom>
          <a:solidFill>
            <a:srgbClr val="173126"/>
          </a:solidFill>
          <a:ln w="3810">
            <a:solidFill>
              <a:srgbClr val="1F4D3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49240" y="47548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556248" y="4754880"/>
            <a:ext cx="1133856" cy="274320"/>
          </a:xfrm>
          <a:prstGeom prst="rect">
            <a:avLst/>
          </a:prstGeom>
          <a:solidFill>
            <a:srgbClr val="173126"/>
          </a:solidFill>
          <a:ln w="3810">
            <a:solidFill>
              <a:srgbClr val="1F4D3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56248" y="47548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7763256" y="4754880"/>
            <a:ext cx="1133856" cy="274320"/>
          </a:xfrm>
          <a:prstGeom prst="rect">
            <a:avLst/>
          </a:prstGeom>
          <a:solidFill>
            <a:srgbClr val="173126"/>
          </a:solidFill>
          <a:ln w="3810">
            <a:solidFill>
              <a:srgbClr val="1F4D3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47548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45720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</p:spPr>
      </p:sp>
      <p:pic>
        <p:nvPicPr>
          <p:cNvPr id="4" name="Image 0" descr="/sessions/elegant-admiring-pasteur/mnt/PonchoCapitalWM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548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5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 WEALTH PORTAL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02920" y="118872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 privado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patrimonio con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estética de private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3182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de visualización premium para clientes wealth de PonchoCapital. La operatoria real sigue ocurriendo por fuera del portal.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3886200"/>
            <a:ext cx="1389888" cy="822960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9593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4360" y="41422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65960" y="3886200"/>
            <a:ext cx="1389888" cy="822960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39593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057400" y="41422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29000" y="3886200"/>
            <a:ext cx="1389888" cy="822960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39593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520440" y="414223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66360" y="594360"/>
            <a:ext cx="361188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40680" y="868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Iniciar sesión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40680" y="1261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Ingresá con tu cuenta para ver tu patrimonio.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40680" y="171907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440680" y="1901952"/>
            <a:ext cx="3063240" cy="384048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19019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cliente@ponchocapital.com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40680" y="24231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440680" y="2606040"/>
            <a:ext cx="3063240" cy="384048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26060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••••••••••••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40680" y="3182112"/>
            <a:ext cx="3063240" cy="457200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0680" y="31821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al portal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40680" y="3840480"/>
            <a:ext cx="3063240" cy="0"/>
          </a:xfrm>
          <a:prstGeom prst="line">
            <a:avLst/>
          </a:prstGeom>
          <a:noFill/>
          <a:ln w="6350">
            <a:solidFill>
              <a:srgbClr val="D5E0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3950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 — Solo clientes wealth de PonchoCapital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440680" y="4370832"/>
            <a:ext cx="969264" cy="292608"/>
          </a:xfrm>
          <a:prstGeom prst="rect">
            <a:avLst/>
          </a:prstGeom>
          <a:solidFill>
            <a:srgbClr val="173126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40680" y="43708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483096" y="4370832"/>
            <a:ext cx="969264" cy="292608"/>
          </a:xfrm>
          <a:prstGeom prst="rect">
            <a:avLst/>
          </a:prstGeom>
          <a:solidFill>
            <a:srgbClr val="2A6B5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83096" y="43708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525512" y="4370832"/>
            <a:ext cx="969264" cy="292608"/>
          </a:xfrm>
          <a:prstGeom prst="rect">
            <a:avLst/>
          </a:prstGeom>
          <a:solidFill>
            <a:srgbClr val="F6F2E9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25512" y="43708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28600" y="484632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200" kern="0" dirty="0">
                <a:solidFill>
                  <a:srgbClr val="9A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LOGIN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920240" cy="4754880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521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Patrimonio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1645920" cy="384048"/>
          </a:xfrm>
          <a:prstGeom prst="rect">
            <a:avLst/>
          </a:prstGeom>
          <a:solidFill>
            <a:srgbClr val="E3EDE8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Resumen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Movimientos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Perfil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1645920" cy="868680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77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5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OPERATIONS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7200" y="41788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operatoria real ocurre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fuera del sistema.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0" y="182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Bienvenido, Martín García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521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privado y simple para ver tu patrimonio.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García  ·  CLIENTE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31720" y="868680"/>
            <a:ext cx="6583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32888" y="978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PATRIMONIAL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32888" y="1143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$ 48.320.000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532888" y="169164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valor visible y consolidado de tu cartera al día de hoy.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950976"/>
            <a:ext cx="1417320" cy="621792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024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53328" y="11978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 / USD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24928" y="950976"/>
            <a:ext cx="1417320" cy="621792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1024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ÚLT. ACTUALIZACIÓN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534656" y="11978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28/03/2025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1664208"/>
            <a:ext cx="1417320" cy="621792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17373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53328" y="19110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9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+$ 1.240.000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24928" y="1664208"/>
            <a:ext cx="1417320" cy="621792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17373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534656" y="19110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9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+12.4%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331720" y="2514600"/>
            <a:ext cx="3200400" cy="24505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14600" y="26426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14600" y="27889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evolucionó tu cartera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514600" y="3200400"/>
            <a:ext cx="2834640" cy="1143000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14600" y="3486150"/>
            <a:ext cx="2834640" cy="0"/>
          </a:xfrm>
          <a:prstGeom prst="line">
            <a:avLst/>
          </a:prstGeom>
          <a:noFill/>
          <a:ln w="3810">
            <a:solidFill>
              <a:srgbClr val="D5E0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14600" y="3771900"/>
            <a:ext cx="2834640" cy="0"/>
          </a:xfrm>
          <a:prstGeom prst="line">
            <a:avLst/>
          </a:prstGeom>
          <a:noFill/>
          <a:ln w="3810">
            <a:solidFill>
              <a:srgbClr val="D5E0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4600" y="4057650"/>
            <a:ext cx="2834640" cy="0"/>
          </a:xfrm>
          <a:prstGeom prst="line">
            <a:avLst/>
          </a:prstGeom>
          <a:noFill/>
          <a:ln w="3810">
            <a:solidFill>
              <a:srgbClr val="D5E0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920323">
            <a:off x="2606040" y="4069080"/>
            <a:ext cx="431322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233363">
            <a:off x="2971800" y="3840480"/>
            <a:ext cx="390632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2471156">
            <a:off x="3337560" y="3977640"/>
            <a:ext cx="486010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842175">
            <a:off x="3703320" y="3657600"/>
            <a:ext cx="377017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2212194">
            <a:off x="4069080" y="3749040"/>
            <a:ext cx="457200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842175">
            <a:off x="4434840" y="3474720"/>
            <a:ext cx="377017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1920323">
            <a:off x="4800600" y="3566160"/>
            <a:ext cx="431322" cy="0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55748" y="401878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1508" y="379018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87268" y="392734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3028" y="360730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18788" y="369874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4548" y="342442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0308" y="351586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16068" y="3287268"/>
            <a:ext cx="100584" cy="100584"/>
          </a:xfrm>
          <a:prstGeom prst="ellipse">
            <a:avLst/>
          </a:prstGeom>
          <a:solidFill>
            <a:srgbClr val="1731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06040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008376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410712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813048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215384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617720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020056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514600" y="4489704"/>
            <a:ext cx="1353312" cy="274320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24328" y="45171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reciente  +3.4%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669280" y="2514600"/>
            <a:ext cx="3246120" cy="2450592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852160" y="26426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852160" y="27889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qué está invertido hoy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54496" y="2898648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3907" y="2900805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52942" y="2907261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01228" y="2917966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8397" y="2932838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94090" y="2951765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37960" y="2974602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79673" y="3001176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18910" y="3031284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55375" y="3064697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88788" y="3101162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18896" y="3140399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45470" y="3182112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68307" y="3225982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87234" y="3271675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02106" y="3318844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12811" y="3367130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19267" y="3416165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21424" y="3465576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19267" y="3514987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12811" y="3564022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02106" y="3612308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87234" y="3659477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768307" y="3705170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45470" y="3749040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18896" y="3790753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88788" y="3829990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55375" y="3866455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18910" y="3899868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79673" y="3929976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37960" y="3956550"/>
            <a:ext cx="109728" cy="109728"/>
          </a:xfrm>
          <a:prstGeom prst="ellipse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527616" y="3962379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83277" y="3984292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37197" y="4002258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89727" y="4016139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41228" y="4025830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92069" y="4031258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42623" y="4032380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93268" y="4029188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144379" y="4021707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96328" y="4009993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49481" y="3994136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4194" y="3974257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60812" y="3950506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919665" y="3923064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81067" y="3892141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845310" y="3857971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12667" y="3820815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83388" y="3780956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57693" y="3738696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35780" y="3694357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717814" y="3648277"/>
            <a:ext cx="109728" cy="109728"/>
          </a:xfrm>
          <a:prstGeom prst="ellipse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15315" y="3640766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02098" y="3593107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693085" y="3544477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688345" y="3495247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87913" y="3445790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691794" y="3396485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699957" y="3347705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712340" y="3299822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728850" y="3253201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749359" y="3208196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73714" y="3165150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01727" y="3124390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833186" y="3086227"/>
            <a:ext cx="109728" cy="109728"/>
          </a:xfrm>
          <a:prstGeom prst="ellipse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66407" y="3052303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903903" y="3020052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944067" y="2991191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86594" y="2965940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31159" y="2944492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77425" y="2927010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25037" y="2913627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173636" y="2904444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22849" y="2899532"/>
            <a:ext cx="109728" cy="109728"/>
          </a:xfrm>
          <a:prstGeom prst="ellipse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961888" y="3172968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406640" y="3264408"/>
            <a:ext cx="109728" cy="109728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571232" y="3246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  42%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7406640" y="3611880"/>
            <a:ext cx="109728" cy="109728"/>
          </a:xfrm>
          <a:prstGeom prst="rect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571232" y="3593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  28%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7406640" y="3959352"/>
            <a:ext cx="109728" cy="109728"/>
          </a:xfrm>
          <a:prstGeom prst="rect">
            <a:avLst/>
          </a:prstGeom>
          <a:solidFill>
            <a:srgbClr val="5A9E7C"/>
          </a:solidFill>
          <a:ln w="12700">
            <a:solidFill>
              <a:srgbClr val="5A9E7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571232" y="39410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  18%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7406640" y="4306824"/>
            <a:ext cx="109728" cy="109728"/>
          </a:xfrm>
          <a:prstGeom prst="rect">
            <a:avLst/>
          </a:prstGeom>
          <a:solidFill>
            <a:srgbClr val="9DC4B3"/>
          </a:solidFill>
          <a:ln w="12700">
            <a:solidFill>
              <a:srgbClr val="9DC4B3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571232" y="42885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  12%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228600" y="493776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200" kern="0" dirty="0">
                <a:solidFill>
                  <a:srgbClr val="9A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DASHBOARD CLIENTE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920240" cy="4754880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521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Patrimonio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1645920" cy="384048"/>
          </a:xfrm>
          <a:prstGeom prst="rect">
            <a:avLst/>
          </a:prstGeom>
          <a:solidFill>
            <a:srgbClr val="E3EDE8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Resumen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Movimientos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Perfil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1645920" cy="868680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77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5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OPERATIONS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7200" y="41788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operatoria real ocurre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fuera del sistema.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0" y="182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Bienvenido, Martín García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521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principales de tu cartera.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García  ·  CLIENTE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31720" y="896112"/>
            <a:ext cx="65836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32888" y="1024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INVERSIONES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32888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Posiciones principales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32888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qué tenés comprado, en un formato familiar de broker.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14600" y="1874520"/>
            <a:ext cx="6217920" cy="292608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929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343400" y="19293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983480" y="19293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ÚLT. PRECIO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669280" y="19293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355080" y="1929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858000" y="19293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GAN/PER %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516368" y="19293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GAN/PER $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266176" y="19293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514600" y="2167128"/>
            <a:ext cx="6217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87752" y="2240280"/>
            <a:ext cx="310896" cy="310896"/>
          </a:xfrm>
          <a:prstGeom prst="ellipse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87752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990088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LETES USD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90088" y="2404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USD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43400" y="2276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22768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$ 99,20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22768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$ 96,50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22768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22768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16368" y="22768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+$ 135.000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66176" y="22768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$ 4.960.000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14600" y="2660904"/>
            <a:ext cx="6217920" cy="457200"/>
          </a:xfrm>
          <a:prstGeom prst="rect">
            <a:avLst/>
          </a:prstGeom>
          <a:solidFill>
            <a:srgbClr val="FCFBF7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87752" y="2734056"/>
            <a:ext cx="310896" cy="310896"/>
          </a:xfrm>
          <a:prstGeom prst="ellipse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87752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90088" y="2706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90088" y="2898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USD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3434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83480" y="2770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$ 178.500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69280" y="2770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$ 155.000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55080" y="2770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2770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+15.2%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16368" y="27706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+$ 2.820.000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66176" y="27706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$ 21.420.000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14600" y="3154680"/>
            <a:ext cx="6217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87752" y="3227832"/>
            <a:ext cx="310896" cy="310896"/>
          </a:xfrm>
          <a:prstGeom prst="ellipse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8775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990088" y="3200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Pesos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990088" y="33924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ARS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343400" y="3264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2.400.000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83480" y="32644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$ 1,14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69280" y="32644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$ 1,10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55080" y="32644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0" y="32644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16368" y="32644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+$ 96.000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266176" y="32644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$ 2.736.000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14600" y="3648456"/>
            <a:ext cx="6217920" cy="457200"/>
          </a:xfrm>
          <a:prstGeom prst="rect">
            <a:avLst/>
          </a:prstGeom>
          <a:solidFill>
            <a:srgbClr val="FCFBF7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87752" y="3721608"/>
            <a:ext cx="310896" cy="310896"/>
          </a:xfrm>
          <a:prstGeom prst="ellipse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87752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990088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Fijo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990088" y="3886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FIJO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343400" y="37581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983480" y="37581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$ 5.800.000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669280" y="37581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$ 5.800.000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355080" y="3758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858000" y="37581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516368" y="37581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266176" y="37581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$ 5.800.000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14600" y="4142232"/>
            <a:ext cx="6217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87752" y="4215384"/>
            <a:ext cx="310896" cy="310896"/>
          </a:xfrm>
          <a:prstGeom prst="ellipse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87752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990088" y="4187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CEDEAR AAPL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2990088" y="4379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CEDEAR USD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343400" y="4251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983480" y="42519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$ 13.200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669280" y="42519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$ 14.800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55080" y="4251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858000" y="42519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-10.8%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516368" y="42519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-$ 1.360.000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266176" y="42519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$ 11.220.000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200" kern="0" dirty="0">
                <a:solidFill>
                  <a:srgbClr val="9A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POSICIONES CLIENTE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920240" cy="4754880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521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1645920" cy="384048"/>
          </a:xfrm>
          <a:prstGeom prst="rect">
            <a:avLst/>
          </a:prstGeom>
          <a:solidFill>
            <a:srgbClr val="E3EDE8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Operatoria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Clientes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1810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Importacion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93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Auditoria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645920" cy="868680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5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OPERATIONS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operatoria real ocurre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fuera del sistema.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182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asesor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521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tablero ejecutivo para entender el estado del portal.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·  ADMIN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31720" y="868680"/>
            <a:ext cx="6583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32888" y="987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DESK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32888" y="11521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panel simple para ver rápido clientes, carteras y pendientes.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532888" y="1920240"/>
            <a:ext cx="1481328" cy="658368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011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51760" y="2167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105656" y="1920240"/>
            <a:ext cx="1481328" cy="658368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2011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224528" y="2167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678424" y="1920240"/>
            <a:ext cx="1481328" cy="658368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2011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PORTFOLIO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97296" y="2167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251192" y="1920240"/>
            <a:ext cx="1481328" cy="658368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064" y="2011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PUBLICAR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370064" y="2167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035040" y="932688"/>
            <a:ext cx="2834640" cy="1709928"/>
          </a:xfrm>
          <a:prstGeom prst="rect">
            <a:avLst/>
          </a:prstGeom>
          <a:solidFill>
            <a:srgbClr val="FAFAF7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0424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72200" y="1216152"/>
            <a:ext cx="2560320" cy="329184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1243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clientes tienen portfolio cargado.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1618488"/>
            <a:ext cx="2560320" cy="329184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16459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cambios podrían requerir publicación.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2020824"/>
            <a:ext cx="2560320" cy="329184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carga: 28/03/2025.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331720" y="2779776"/>
            <a:ext cx="6583680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32888" y="2898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RECIENTES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32888" y="3054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directo a clientes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496312" y="3447288"/>
            <a:ext cx="6254496" cy="256032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87752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599432" y="3493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245352" y="3493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342632" y="3493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496312" y="3703320"/>
            <a:ext cx="6254496" cy="310896"/>
          </a:xfrm>
          <a:prstGeom prst="rect">
            <a:avLst/>
          </a:prstGeom>
          <a:solidFill>
            <a:srgbClr val="FFFFFF"/>
          </a:solidFill>
          <a:ln w="3175">
            <a:solidFill>
              <a:srgbClr val="D5E0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87752" y="3776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García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99432" y="3776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Principal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45352" y="3758184"/>
            <a:ext cx="822960" cy="201168"/>
          </a:xfrm>
          <a:prstGeom prst="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45352" y="3758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342632" y="3776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496312" y="4050792"/>
            <a:ext cx="6254496" cy="310896"/>
          </a:xfrm>
          <a:prstGeom prst="rect">
            <a:avLst/>
          </a:prstGeom>
          <a:solidFill>
            <a:srgbClr val="FCFBF7"/>
          </a:solidFill>
          <a:ln w="3175">
            <a:solidFill>
              <a:srgbClr val="D5E0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87752" y="41239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Rodríguez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99432" y="4123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Conservador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45352" y="4105656"/>
            <a:ext cx="822960" cy="201168"/>
          </a:xfrm>
          <a:prstGeom prst="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45352" y="4105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42632" y="4123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96312" y="4398264"/>
            <a:ext cx="6254496" cy="310896"/>
          </a:xfrm>
          <a:prstGeom prst="rect">
            <a:avLst/>
          </a:prstGeom>
          <a:solidFill>
            <a:srgbClr val="FFFFFF"/>
          </a:solidFill>
          <a:ln w="3175">
            <a:solidFill>
              <a:srgbClr val="D5E0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87752" y="4471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Mena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99432" y="4471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Agresivo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45352" y="4453128"/>
            <a:ext cx="822960" cy="20116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45352" y="4453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342632" y="4471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496312" y="4745736"/>
            <a:ext cx="6254496" cy="310896"/>
          </a:xfrm>
          <a:prstGeom prst="rect">
            <a:avLst/>
          </a:prstGeom>
          <a:solidFill>
            <a:srgbClr val="FCFBF7"/>
          </a:solidFill>
          <a:ln w="3175">
            <a:solidFill>
              <a:srgbClr val="D5E0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87752" y="4818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Peralta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599432" y="4818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Balanceado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45352" y="4800600"/>
            <a:ext cx="822960" cy="201168"/>
          </a:xfrm>
          <a:prstGeom prst="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45352" y="4800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39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342632" y="4818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200" kern="0" dirty="0">
                <a:solidFill>
                  <a:srgbClr val="9A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DASHBOARD ASESOR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920240" cy="4754880"/>
          </a:xfrm>
          <a:prstGeom prst="rect">
            <a:avLst/>
          </a:prstGeom>
          <a:solidFill>
            <a:srgbClr val="FBF8F2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PonchoCapital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521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1645920" cy="384048"/>
          </a:xfrm>
          <a:prstGeom prst="rect">
            <a:avLst/>
          </a:prstGeom>
          <a:solidFill>
            <a:srgbClr val="E3EDE8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Operatoria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Clientes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1810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Importacion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93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Auditoria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645920" cy="868680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5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OPERATIONS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operatoria real ocurre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fuera del sistema.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182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Operatoria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521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simple de clientes y carteras.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solidFill>
            <a:srgbClr val="E8F0EC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82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·  ADMIN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31720" y="868680"/>
            <a:ext cx="6583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32888" y="987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32888" y="115214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espacio corto y claro para gestionar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 y mantener sus carteras.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852160" y="960120"/>
            <a:ext cx="950976" cy="1600200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0515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0" y="1261872"/>
            <a:ext cx="768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93992" y="14813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76288" y="960120"/>
            <a:ext cx="950976" cy="1600200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10515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67728" y="1261872"/>
            <a:ext cx="768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14813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00416" y="960120"/>
            <a:ext cx="950976" cy="1600200"/>
          </a:xfrm>
          <a:prstGeom prst="rect">
            <a:avLst/>
          </a:prstGeom>
          <a:solidFill>
            <a:srgbClr val="E8F0EC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91856" y="10515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91856" y="1261872"/>
            <a:ext cx="768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movimiento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23160" y="2834640"/>
            <a:ext cx="2121408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87752" y="295351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RÁPIDA · PASO 01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87752" y="311810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Nuevo cliente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587752" y="35661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COMPLETO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87752" y="3721608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79192" y="37216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Ingresá el nombre del cliente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87752" y="4041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87752" y="4197096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9192" y="41970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email@ejemplo.com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87752" y="45171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 BASE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87752" y="4672584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79192" y="46725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  ●   USD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87752" y="4709160"/>
            <a:ext cx="1792224" cy="274320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87752" y="4709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2834640"/>
            <a:ext cx="2121408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82312" y="295351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RÁPIDA · PASO 02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82312" y="311810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Abrir portfolio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782312" y="35661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82312" y="3721608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73752" y="37216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cliente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82312" y="4041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PORTFOLIO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82312" y="4197096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41970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Principal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82312" y="45171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82312" y="4672584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73752" y="46725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 · Conservador · Agresivo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82312" y="4709160"/>
            <a:ext cx="1792224" cy="274320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709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12280" y="2834640"/>
            <a:ext cx="2121408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976872" y="295351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RÁPIDA · PASO 03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76872" y="311810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movimiento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6976872" y="35661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976872" y="3721608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68312" y="37216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portfolio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976872" y="404164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976872" y="4197096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68312" y="41970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LETES · GOOG · Delta Pesos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976872" y="45171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50" kern="0" dirty="0">
                <a:solidFill>
                  <a:srgbClr val="7C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976872" y="4672584"/>
            <a:ext cx="1792224" cy="292608"/>
          </a:xfrm>
          <a:prstGeom prst="rect">
            <a:avLst/>
          </a:prstGeom>
          <a:solidFill>
            <a:srgbClr val="FBF8F2"/>
          </a:solidFill>
          <a:ln w="5080">
            <a:solidFill>
              <a:srgbClr val="D5E0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68312" y="46725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  ●   Venta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976872" y="4709160"/>
            <a:ext cx="1792224" cy="274320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76872" y="4709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28600" y="497433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200" kern="0" dirty="0">
                <a:solidFill>
                  <a:srgbClr val="9A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OPERATORIA — GESTIÓN INTERNA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pic>
        <p:nvPicPr>
          <p:cNvPr id="3" name="Image 0" descr="/sessions/elegant-admiring-pasteur/mnt/PonchoCapitalWM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del sistema — Cómo funciona PonchoCapital WM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97280" y="6675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descarga de Excel a la vista del cliente en 4 pasos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2011680" cy="2834640"/>
          </a:xfrm>
          <a:prstGeom prst="rect">
            <a:avLst/>
          </a:prstGeom>
          <a:solidFill>
            <a:srgbClr val="1F4D3A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" y="1371600"/>
            <a:ext cx="402336" cy="402336"/>
          </a:xfrm>
          <a:prstGeom prst="ellipse">
            <a:avLst/>
          </a:prstGeom>
          <a:solidFill>
            <a:srgbClr val="FFFFFF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737360" y="1389888"/>
            <a:ext cx="438912" cy="256032"/>
          </a:xfrm>
          <a:prstGeom prst="rect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7360" y="13898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84632" y="190195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Allaria genera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Excel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descarga manualmente el estado de cuenta del broker Allaria (sin API disponible).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3317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468880" y="1188720"/>
            <a:ext cx="201168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33472" y="1371600"/>
            <a:ext cx="402336" cy="402336"/>
          </a:xfrm>
          <a:prstGeom prst="ellipse">
            <a:avLst/>
          </a:prstGeom>
          <a:solidFill>
            <a:srgbClr val="173126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3347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886200" y="1389888"/>
            <a:ext cx="438912" cy="256032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86200" y="13898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633472" y="190195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Asesor importa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Excel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633472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sube el archivo a la consola interna. El sistema parsea y carga posiciones al portfolio.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48056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617720" y="1188720"/>
            <a:ext cx="201168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82312" y="1371600"/>
            <a:ext cx="402336" cy="402336"/>
          </a:xfrm>
          <a:prstGeom prst="ellipse">
            <a:avLst/>
          </a:prstGeom>
          <a:solidFill>
            <a:srgbClr val="173126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8231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035040" y="1389888"/>
            <a:ext cx="438912" cy="256032"/>
          </a:xfrm>
          <a:prstGeom prst="rect">
            <a:avLst/>
          </a:prstGeom>
          <a:solidFill>
            <a:srgbClr val="173126"/>
          </a:solidFill>
          <a:ln w="12700">
            <a:solidFill>
              <a:srgbClr val="1731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13898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82312" y="190195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Asesor mantiene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publica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782312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registran movimientos manuales (compra/venta). Al validar, se publica un snapshot al cliente.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62940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766560" y="1188720"/>
            <a:ext cx="2011680" cy="2834640"/>
          </a:xfrm>
          <a:prstGeom prst="rect">
            <a:avLst/>
          </a:prstGeom>
          <a:solidFill>
            <a:srgbClr val="2A6B52"/>
          </a:solidFill>
          <a:ln w="6350">
            <a:solidFill>
              <a:srgbClr val="D5E0DA"/>
            </a:solidFill>
            <a:prstDash val="solid"/>
          </a:ln>
          <a:effectLst>
            <a:outerShdw sx="100000" sy="100000" kx="0" ky="0" algn="bl" rotWithShape="0" blurRad="152400" dist="38100" dir="8100000">
              <a:srgbClr val="1F4D3A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931152" y="1371600"/>
            <a:ext cx="402336" cy="402336"/>
          </a:xfrm>
          <a:prstGeom prst="ellipse">
            <a:avLst/>
          </a:prstGeom>
          <a:solidFill>
            <a:srgbClr val="FFFFFF"/>
          </a:solidFill>
          <a:ln w="3810">
            <a:solidFill>
              <a:srgbClr val="D5E0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3115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183880" y="1389888"/>
            <a:ext cx="438912" cy="256032"/>
          </a:xfrm>
          <a:prstGeom prst="rect">
            <a:avLst/>
          </a:prstGeom>
          <a:solidFill>
            <a:srgbClr val="2A6B52"/>
          </a:solidFill>
          <a:ln w="12700">
            <a:solidFill>
              <a:srgbClr val="2A6B5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83880" y="13898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931152" y="190195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ve su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patrimonio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931152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accede al portal y ve su cartera, rendimiento y posiciones con la estética de PonchoCapital.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0040" y="4206240"/>
            <a:ext cx="8503920" cy="749808"/>
          </a:xfrm>
          <a:prstGeom prst="rect">
            <a:avLst/>
          </a:prstGeom>
          <a:solidFill>
            <a:srgbClr val="E8F0EC"/>
          </a:solidFill>
          <a:ln w="6350">
            <a:solidFill>
              <a:srgbClr val="D5E0D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426110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PonchoCapital WM no ejecuta operaciones reales. Funciona como capa de visualización premium sobre la operatoria real que ocurre en Allaria. Las acciones de compra y venta en el portal son registros internos de seguimiento, no órdenes al mercado.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PonchoCapital Wealth Management Portal</dc:title>
  <dc:subject>PptxGenJS Presentation</dc:subject>
  <dc:creator>PonchoCapital</dc:creator>
  <cp:lastModifiedBy>PonchoCapital</cp:lastModifiedBy>
  <cp:revision>1</cp:revision>
  <dcterms:created xsi:type="dcterms:W3CDTF">2026-04-03T23:25:58Z</dcterms:created>
  <dcterms:modified xsi:type="dcterms:W3CDTF">2026-04-03T23:25:58Z</dcterms:modified>
</cp:coreProperties>
</file>